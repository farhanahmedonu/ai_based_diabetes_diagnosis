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9144000" cy="6858000" type="screen4x3"/>
  <p:notesSz cx="6954838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dTrUjsDcNKD0xv9qvoff/tWfi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8E0749-00F0-4C77-B472-6A74AFAE4649}">
  <a:tblStyle styleId="{508E0749-00F0-4C77-B472-6A74AFAE46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7E8344D-1FFE-486B-8FEC-3A74D5AB1AD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40175" y="0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0937" y="698500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87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375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40175" y="8842375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6" name="Google Shape;36;p1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87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" name="Google Shape;37;p1:notes"/>
          <p:cNvSpPr txBox="1"/>
          <p:nvPr/>
        </p:nvSpPr>
        <p:spPr>
          <a:xfrm>
            <a:off x="3940175" y="8842375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87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" name="Google Shape;48;p2:notes"/>
          <p:cNvSpPr txBox="1"/>
          <p:nvPr/>
        </p:nvSpPr>
        <p:spPr>
          <a:xfrm>
            <a:off x="3940175" y="8842375"/>
            <a:ext cx="30130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87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db8de3252_0_2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6db8de325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3000" cy="349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:notes"/>
          <p:cNvSpPr txBox="1">
            <a:spLocks noGrp="1"/>
          </p:cNvSpPr>
          <p:nvPr>
            <p:ph type="body" idx="1"/>
          </p:nvPr>
        </p:nvSpPr>
        <p:spPr>
          <a:xfrm>
            <a:off x="695325" y="4421187"/>
            <a:ext cx="5564187" cy="4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7" y="698500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>
            <a:spLocks noGrp="1"/>
          </p:cNvSpPr>
          <p:nvPr>
            <p:ph type="ctrTitle"/>
          </p:nvPr>
        </p:nvSpPr>
        <p:spPr>
          <a:xfrm>
            <a:off x="685800" y="1143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36609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subTitle" idx="1"/>
          </p:nvPr>
        </p:nvSpPr>
        <p:spPr>
          <a:xfrm>
            <a:off x="685800" y="3886200"/>
            <a:ext cx="38862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  <a:defRPr sz="2700">
                <a:solidFill>
                  <a:srgbClr val="366092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7"/>
          <p:cNvSpPr txBox="1">
            <a:spLocks noGrp="1"/>
          </p:cNvSpPr>
          <p:nvPr>
            <p:ph type="body" idx="2"/>
          </p:nvPr>
        </p:nvSpPr>
        <p:spPr>
          <a:xfrm>
            <a:off x="4800600" y="3886200"/>
            <a:ext cx="39624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0070C0"/>
              </a:buClr>
              <a:buSzPts val="2700"/>
              <a:buNone/>
              <a:defRPr sz="2700">
                <a:solidFill>
                  <a:srgbClr val="0070C0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7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7"/>
          <p:cNvSpPr txBox="1">
            <a:spLocks noGrp="1"/>
          </p:cNvSpPr>
          <p:nvPr>
            <p:ph type="sldNum" idx="12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9"/>
          <p:cNvSpPr txBox="1">
            <a:spLocks noGrp="1"/>
          </p:cNvSpPr>
          <p:nvPr>
            <p:ph type="body" idx="1"/>
          </p:nvPr>
        </p:nvSpPr>
        <p:spPr>
          <a:xfrm>
            <a:off x="457200" y="167640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Char char="•"/>
              <a:defRPr>
                <a:solidFill>
                  <a:srgbClr val="366092"/>
                </a:solidFill>
              </a:defRPr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1859B"/>
              </a:buClr>
              <a:buSzPts val="2800"/>
              <a:buChar char="–"/>
              <a:defRPr>
                <a:solidFill>
                  <a:srgbClr val="31859B"/>
                </a:solidFill>
              </a:defRPr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53734"/>
              </a:buClr>
              <a:buSzPts val="2400"/>
              <a:buChar char="•"/>
              <a:defRPr>
                <a:solidFill>
                  <a:srgbClr val="953734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36C09"/>
              </a:buClr>
              <a:buSzPts val="2000"/>
              <a:buChar char="–"/>
              <a:defRPr>
                <a:solidFill>
                  <a:srgbClr val="E36C09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36609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sldNum" idx="12"/>
          </p:nvPr>
        </p:nvSpPr>
        <p:spPr>
          <a:xfrm>
            <a:off x="6781800" y="64801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/>
        </p:nvSpPr>
        <p:spPr>
          <a:xfrm>
            <a:off x="685800" y="3200400"/>
            <a:ext cx="3810000" cy="53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25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6"/>
          <p:cNvSpPr txBox="1"/>
          <p:nvPr/>
        </p:nvSpPr>
        <p:spPr>
          <a:xfrm>
            <a:off x="4800600" y="3200400"/>
            <a:ext cx="3962400" cy="53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25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76912" cy="96043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6"/>
          <p:cNvSpPr txBox="1">
            <a:spLocks noGrp="1"/>
          </p:cNvSpPr>
          <p:nvPr>
            <p:ph type="dt" idx="10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6"/>
          <p:cNvSpPr txBox="1">
            <a:spLocks noGrp="1"/>
          </p:cNvSpPr>
          <p:nvPr>
            <p:ph type="sldNum" idx="12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/>
        </p:nvSpPr>
        <p:spPr>
          <a:xfrm>
            <a:off x="2733675" y="6516687"/>
            <a:ext cx="3819525" cy="2524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B.Sc. Project Defense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8"/>
          <p:cNvSpPr txBox="1"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62" y="6342062"/>
            <a:ext cx="1963737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sldNum" idx="12"/>
          </p:nvPr>
        </p:nvSpPr>
        <p:spPr>
          <a:xfrm>
            <a:off x="6781800" y="64801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>
            <a:spLocks noGrp="1"/>
          </p:cNvSpPr>
          <p:nvPr>
            <p:ph type="ctrTitle"/>
          </p:nvPr>
        </p:nvSpPr>
        <p:spPr>
          <a:xfrm>
            <a:off x="685800" y="11430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dirty="0">
                <a:solidFill>
                  <a:schemeClr val="dk2"/>
                </a:solidFill>
              </a:rPr>
              <a:t>Conversational AI and ML for Diabetes Risk Assessment</a:t>
            </a:r>
            <a:br>
              <a:rPr lang="en-US" sz="4400" b="1" i="0" u="none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40" name="Google Shape;40;p1"/>
          <p:cNvSpPr txBox="1"/>
          <p:nvPr/>
        </p:nvSpPr>
        <p:spPr>
          <a:xfrm>
            <a:off x="3581400" y="6362700"/>
            <a:ext cx="278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Sunday, 13 July, 2025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577625" y="2919650"/>
            <a:ext cx="8496300" cy="114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2965200" y="4374763"/>
            <a:ext cx="3213600" cy="4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        Exam Roll:   </a:t>
            </a: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  </a:t>
            </a:r>
            <a:r>
              <a:rPr lang="en-US" sz="2300" dirty="0">
                <a:solidFill>
                  <a:schemeClr val="dk1"/>
                </a:solidFill>
              </a:rPr>
              <a:t>202217 and 202198</a:t>
            </a:r>
            <a:endParaRPr sz="2300" dirty="0">
              <a:solidFill>
                <a:schemeClr val="dk1"/>
              </a:solidFill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2730000" y="3492050"/>
            <a:ext cx="3639000" cy="7455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Presented by</a:t>
            </a:r>
            <a:endParaRPr sz="3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>
            <a:spLocks noGrp="1"/>
          </p:cNvSpPr>
          <p:nvPr>
            <p:ph type="body" idx="1"/>
          </p:nvPr>
        </p:nvSpPr>
        <p:spPr>
          <a:xfrm>
            <a:off x="457200" y="1043350"/>
            <a:ext cx="4002000" cy="3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endParaRPr sz="1800"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Problem Statement</a:t>
            </a:r>
            <a:endParaRPr sz="1800"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Objectives of the Project</a:t>
            </a:r>
            <a:endParaRPr sz="1800"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System Overview</a:t>
            </a:r>
            <a:endParaRPr sz="1800"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Diabetes in Bangladesh</a:t>
            </a:r>
            <a:endParaRPr sz="1800"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Overview of Existing Solutions</a:t>
            </a:r>
            <a:endParaRPr sz="1800"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Related Work</a:t>
            </a:r>
            <a:endParaRPr sz="1800"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Rise of Conversational AI in Healthcare</a:t>
            </a:r>
            <a:endParaRPr sz="180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>
                <a:solidFill>
                  <a:schemeClr val="dk1"/>
                </a:solidFill>
              </a:rPr>
              <a:t>Methodology Overview</a:t>
            </a:r>
            <a:endParaRPr sz="1800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>
                <a:solidFill>
                  <a:schemeClr val="dk1"/>
                </a:solidFill>
              </a:rPr>
              <a:t>Dataset Overview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 sz="1800">
                <a:solidFill>
                  <a:schemeClr val="dk1"/>
                </a:solidFill>
              </a:rPr>
              <a:t>Preprocessing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Training Approach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Multiple Algorithms?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1800">
              <a:solidFill>
                <a:schemeClr val="dk1"/>
              </a:solidFill>
            </a:endParaRPr>
          </a:p>
          <a:p>
            <a:pPr marL="342900" lvl="0" indent="-1778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1100"/>
          </a:p>
          <a:p>
            <a:pPr marL="342900" marR="0" lvl="0" indent="-1778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1800">
              <a:solidFill>
                <a:schemeClr val="dk1"/>
              </a:solidFill>
            </a:endParaRPr>
          </a:p>
          <a:p>
            <a:pPr marL="342900" marR="0" lvl="0" indent="-1778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400" b="1" i="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Slide Outline</a:t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6781800" y="64801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4702608" y="1599111"/>
            <a:ext cx="3740700" cy="4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Local LLMs for Prompt Engineering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Prompt Engineering Pipeline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Chatbot Development Process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Application Architecture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Comparative Model Results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Addressing Class Imbalance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Predictive Feature Analysis (SHAP)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Conversational Agent Behavior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Prediction Interface Overview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>
                <a:solidFill>
                  <a:srgbClr val="376092"/>
                </a:solidFill>
              </a:rPr>
              <a:t>Introduction</a:t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6781800" y="64801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568036" y="1648691"/>
            <a:ext cx="81189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</a:pPr>
            <a:r>
              <a:rPr lang="en-US" sz="2400" i="0" u="none" strike="noStrike" cap="none">
                <a:solidFill>
                  <a:srgbClr val="000000"/>
                </a:solidFill>
              </a:rPr>
              <a:t>Diabetes is a </a:t>
            </a:r>
            <a:r>
              <a:rPr lang="en-US" sz="2400" b="1" i="0" u="none" strike="noStrike" cap="none">
                <a:solidFill>
                  <a:srgbClr val="000000"/>
                </a:solidFill>
              </a:rPr>
              <a:t>global health concern</a:t>
            </a:r>
            <a:r>
              <a:rPr lang="en-US" sz="2400" i="0" u="none" strike="noStrike" cap="none">
                <a:solidFill>
                  <a:srgbClr val="000000"/>
                </a:solidFill>
              </a:rPr>
              <a:t> with increasing prevalence.</a:t>
            </a:r>
            <a:endParaRPr sz="24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</a:pPr>
            <a:r>
              <a:rPr lang="en-US" sz="2400" i="0" u="none" strike="noStrike" cap="none">
                <a:solidFill>
                  <a:srgbClr val="000000"/>
                </a:solidFill>
              </a:rPr>
              <a:t> In </a:t>
            </a:r>
            <a:r>
              <a:rPr lang="en-US" sz="2400" b="1" i="0" u="none" strike="noStrike" cap="none">
                <a:solidFill>
                  <a:srgbClr val="000000"/>
                </a:solidFill>
              </a:rPr>
              <a:t>Bangladesh</a:t>
            </a:r>
            <a:r>
              <a:rPr lang="en-US" sz="2400" i="0" u="none" strike="noStrike" cap="none">
                <a:solidFill>
                  <a:srgbClr val="000000"/>
                </a:solidFill>
              </a:rPr>
              <a:t>, around 10 million people are affected.</a:t>
            </a:r>
            <a:endParaRPr sz="24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 i="0" u="none" strike="noStrike" cap="none">
                <a:solidFill>
                  <a:srgbClr val="000000"/>
                </a:solidFill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</a:rPr>
              <a:t>Early diagnosis</a:t>
            </a:r>
            <a:r>
              <a:rPr lang="en-US" sz="2400" i="0" u="none" strike="noStrike" cap="none">
                <a:solidFill>
                  <a:srgbClr val="000000"/>
                </a:solidFill>
              </a:rPr>
              <a:t> is essential to reduce health risks and complications.</a:t>
            </a:r>
            <a:endParaRPr sz="24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</a:pPr>
            <a:r>
              <a:rPr lang="en-US" sz="2400" i="0" u="none" strike="noStrike" cap="none">
                <a:solidFill>
                  <a:srgbClr val="000000"/>
                </a:solidFill>
              </a:rPr>
              <a:t> Traditional methods:</a:t>
            </a:r>
            <a:endParaRPr sz="2400" i="0" u="none" strike="noStrike" cap="none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 </a:t>
            </a:r>
            <a:r>
              <a:rPr lang="en-US" sz="2200"/>
              <a:t> -  Require clinical visits, labs, expert interpretation.</a:t>
            </a:r>
            <a:endParaRPr sz="2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-  Are not accessible to all, especially in rural areas.</a:t>
            </a:r>
            <a:endParaRPr sz="2200" i="0" u="none" strike="noStrike" cap="none">
              <a:solidFill>
                <a:srgbClr val="000000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 i="0" u="none" strike="noStrike" cap="none">
                <a:solidFill>
                  <a:srgbClr val="000000"/>
                </a:solidFill>
              </a:rPr>
              <a:t>Need for an </a:t>
            </a:r>
            <a:r>
              <a:rPr lang="en-US" sz="2400" b="1" i="0" u="none" strike="noStrike" cap="none">
                <a:solidFill>
                  <a:srgbClr val="000000"/>
                </a:solidFill>
              </a:rPr>
              <a:t>intelligent, scalable, and accessible</a:t>
            </a:r>
            <a:r>
              <a:rPr lang="en-US" sz="2400" i="0" u="none" strike="noStrike" cap="none">
                <a:solidFill>
                  <a:srgbClr val="000000"/>
                </a:solidFill>
              </a:rPr>
              <a:t> health screening solution.</a:t>
            </a:r>
            <a:endParaRPr sz="2400"/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>
                <a:solidFill>
                  <a:srgbClr val="000000"/>
                </a:solidFill>
              </a:rPr>
              <a:t>           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body" idx="1"/>
          </p:nvPr>
        </p:nvSpPr>
        <p:spPr>
          <a:xfrm>
            <a:off x="294075" y="1344650"/>
            <a:ext cx="8527800" cy="4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Diabetes is a chronic disease with long-term health and economic impacts.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In Bangladesh: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Delayed diagnosis due to lack of facilities and awareness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•Traditional diagnosis methods are invasive,time-consuming and urban-centric.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Current ML/XAI solutions: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Don’t consider</a:t>
            </a: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regional contexts 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demographic factors</a:t>
            </a:r>
            <a:endParaRPr sz="2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</a:t>
            </a: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 project aims to develop a locally adapted,AI-powered system for early diabetes risk prediction.</a:t>
            </a:r>
            <a:endParaRPr sz="2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 txBox="1">
            <a:spLocks noGrp="1"/>
          </p:cNvSpPr>
          <p:nvPr>
            <p:ph type="title"/>
          </p:nvPr>
        </p:nvSpPr>
        <p:spPr>
          <a:xfrm>
            <a:off x="-141875" y="2016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>
                <a:solidFill>
                  <a:srgbClr val="376092"/>
                </a:solidFill>
              </a:rPr>
              <a:t>Problem Statement</a:t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>
            <a:spLocks noGrp="1"/>
          </p:cNvSpPr>
          <p:nvPr>
            <p:ph type="body" idx="1"/>
          </p:nvPr>
        </p:nvSpPr>
        <p:spPr>
          <a:xfrm>
            <a:off x="903200" y="1507325"/>
            <a:ext cx="8150400" cy="39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Build an </a:t>
            </a:r>
            <a:r>
              <a:rPr lang="en-US" sz="2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XAI-driven ML framework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diabetes risk prediction.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Use a </a:t>
            </a:r>
            <a:r>
              <a:rPr lang="en-US" sz="2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Conversational AI chatbot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collect patient input via natural language.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Improve </a:t>
            </a:r>
            <a:r>
              <a:rPr lang="en-US" sz="2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transparency and trust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SHAP and other explainable   AI tools.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Focus on </a:t>
            </a:r>
            <a:r>
              <a:rPr lang="en-US" sz="2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Bangladeshi health context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a local dataset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(DiaHealth).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Create a </a:t>
            </a:r>
            <a:r>
              <a:rPr lang="en-US" sz="2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scalable web application 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deployment in rural/low-resource settings.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>
                <a:solidFill>
                  <a:srgbClr val="376092"/>
                </a:solidFill>
              </a:rPr>
              <a:t>Objectives of the Project</a:t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80350" y="1509900"/>
            <a:ext cx="8229600" cy="3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Goal:</a:t>
            </a:r>
            <a:r>
              <a:rPr lang="en-US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 ML + Conversational AI for early diabetes .          screening.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Components:</a:t>
            </a:r>
            <a:endParaRPr sz="2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• </a:t>
            </a:r>
            <a:r>
              <a:rPr lang="en-US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Model: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Trained on the DiaHealth dataset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• </a:t>
            </a:r>
            <a:r>
              <a:rPr lang="en-US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Conversational Agent: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LLM- powered chatbot to interact with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patients.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• </a:t>
            </a:r>
            <a:r>
              <a:rPr lang="en-US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Explainability Layer: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 &amp; LIME for feature interpretation.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•  </a:t>
            </a:r>
            <a:r>
              <a:rPr lang="en-US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App: </a:t>
            </a: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Django-based deployment platform.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System Overview</a:t>
            </a:r>
            <a:endParaRPr sz="4100"/>
          </a:p>
        </p:txBody>
      </p:sp>
      <p:sp>
        <p:nvSpPr>
          <p:cNvPr id="81" name="Google Shape;81;p6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>
            <a:spLocks noGrp="1"/>
          </p:cNvSpPr>
          <p:nvPr>
            <p:ph type="body" idx="1"/>
          </p:nvPr>
        </p:nvSpPr>
        <p:spPr>
          <a:xfrm>
            <a:off x="580350" y="1509900"/>
            <a:ext cx="82296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87" name="Google Shape;87;p7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System Overview</a:t>
            </a:r>
            <a:endParaRPr sz="4100"/>
          </a:p>
        </p:txBody>
      </p:sp>
      <p:sp>
        <p:nvSpPr>
          <p:cNvPr id="88" name="Google Shape;88;p7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7" title="systemoverview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183128"/>
            <a:ext cx="8229600" cy="271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>
            <a:spLocks noGrp="1"/>
          </p:cNvSpPr>
          <p:nvPr>
            <p:ph type="body" idx="1"/>
          </p:nvPr>
        </p:nvSpPr>
        <p:spPr>
          <a:xfrm>
            <a:off x="580350" y="1509900"/>
            <a:ext cx="82296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96" name="Google Shape;96;p8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Diabetes in Bangladesh</a:t>
            </a:r>
            <a:endParaRPr sz="4100"/>
          </a:p>
        </p:txBody>
      </p:sp>
      <p:sp>
        <p:nvSpPr>
          <p:cNvPr id="97" name="Google Shape;97;p8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490050" y="1692725"/>
            <a:ext cx="8319900" cy="3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Rapid urbanization, sedentary lifestyle, and poor diet have increased diabetes rate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Bangladesh: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48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Over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8.4 million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diabetics (IDF, 2021)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48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Projected to increase significantly in coming years.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Many remain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undiagnosed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until complications occur.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Limited access to healthcare in rural areas.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890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A digital, AI-powered screening solution is urgently needed.</a:t>
            </a:r>
            <a:endParaRPr sz="2400" b="0" i="0" u="none" strike="noStrike" cap="none">
              <a:solidFill>
                <a:srgbClr val="4472C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>
            <a:spLocks noGrp="1"/>
          </p:cNvSpPr>
          <p:nvPr>
            <p:ph type="body" idx="1"/>
          </p:nvPr>
        </p:nvSpPr>
        <p:spPr>
          <a:xfrm>
            <a:off x="980150" y="1471200"/>
            <a:ext cx="82296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04" name="Google Shape;104;p9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Overview of Existing Solutions</a:t>
            </a:r>
            <a:endParaRPr sz="4100"/>
          </a:p>
        </p:txBody>
      </p:sp>
      <p:sp>
        <p:nvSpPr>
          <p:cNvPr id="105" name="Google Shape;105;p9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824100" y="1641150"/>
            <a:ext cx="8319900" cy="3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ML-based diabetes prediction models exist: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Logistic Regression, Random Forest, XGBoost, etc.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But...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Often built on foreign datasets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Lack interpretability (black box)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Ignore local context and healthcare infrastructure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Poor handling of class imbalance and missing values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Our project addresses all these gaps.</a:t>
            </a:r>
            <a:endParaRPr sz="2400" b="1" i="0" u="none" strike="noStrike" cap="none">
              <a:solidFill>
                <a:srgbClr val="4472C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body" idx="1"/>
          </p:nvPr>
        </p:nvSpPr>
        <p:spPr>
          <a:xfrm>
            <a:off x="1921925" y="179425"/>
            <a:ext cx="4778700" cy="1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12" name="Google Shape;112;p10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Related Work</a:t>
            </a:r>
            <a:endParaRPr sz="4100"/>
          </a:p>
        </p:txBody>
      </p:sp>
      <p:sp>
        <p:nvSpPr>
          <p:cNvPr id="113" name="Google Shape;113;p10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952500" y="5129900"/>
            <a:ext cx="6533700" cy="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4472C4"/>
                </a:solidFill>
              </a:rPr>
              <a:t>Most studies lack real-time prediction,</a:t>
            </a:r>
            <a:endParaRPr sz="2400" b="1" i="0" u="none" strike="noStrike" cap="none">
              <a:solidFill>
                <a:srgbClr val="4472C4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4472C4"/>
                </a:solidFill>
              </a:rPr>
              <a:t>explainability, or local context.</a:t>
            </a:r>
            <a:endParaRPr sz="2400" b="1" i="0" u="none" strike="noStrike" cap="none">
              <a:solidFill>
                <a:srgbClr val="4472C4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115" name="Google Shape;115;p10"/>
          <p:cNvGraphicFramePr/>
          <p:nvPr>
            <p:extLst>
              <p:ext uri="{D42A27DB-BD31-4B8C-83A1-F6EECF244321}">
                <p14:modId xmlns:p14="http://schemas.microsoft.com/office/powerpoint/2010/main" val="1700059071"/>
              </p:ext>
            </p:extLst>
          </p:nvPr>
        </p:nvGraphicFramePr>
        <p:xfrm>
          <a:off x="952500" y="1512213"/>
          <a:ext cx="7239000" cy="2829745"/>
        </p:xfrm>
        <a:graphic>
          <a:graphicData uri="http://schemas.openxmlformats.org/drawingml/2006/table">
            <a:tbl>
              <a:tblPr>
                <a:noFill/>
                <a:tableStyleId>{508E0749-00F0-4C77-B472-6A74AFAE4649}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         </a:t>
                      </a:r>
                      <a:r>
                        <a:rPr lang="en-US" sz="1500" b="1"/>
                        <a:t>Study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     </a:t>
                      </a:r>
                      <a:r>
                        <a:rPr lang="en-US" sz="1500" b="1"/>
                        <a:t>Approach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    </a:t>
                      </a:r>
                      <a:r>
                        <a:rPr lang="en-US" sz="1500" b="1"/>
                        <a:t>  Accuracy</a:t>
                      </a:r>
                      <a:endParaRPr sz="15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   </a:t>
                      </a:r>
                      <a:r>
                        <a:rPr lang="en-US" sz="1500" b="1"/>
                        <a:t>   Notes</a:t>
                      </a:r>
                      <a:endParaRPr sz="15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Tasin</a:t>
                      </a:r>
                      <a:r>
                        <a:rPr lang="en-US" dirty="0"/>
                        <a:t> et al.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ML + XAI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81 %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Used LIME,SHAP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Dharmarathne</a:t>
                      </a:r>
                      <a:r>
                        <a:rPr lang="en-US" dirty="0"/>
                        <a:t> et al.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XGB + SHAP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80%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Self-explaining UI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72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Iparraguirre</a:t>
                      </a:r>
                      <a:r>
                        <a:rPr lang="en-US" dirty="0"/>
                        <a:t> et al.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RF+Feature</a:t>
                      </a:r>
                      <a:r>
                        <a:rPr lang="en-US" dirty="0"/>
                        <a:t> Selection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85%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UK Dataset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Tripathi et al.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RF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87.66%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Pima Dataset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Lugner et al.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XGBoost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92%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Used biological markers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980150" y="1471200"/>
            <a:ext cx="82296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21" name="Google Shape;121;p11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Rise of Conversational AI in Healthcare</a:t>
            </a:r>
            <a:endParaRPr sz="4100"/>
          </a:p>
        </p:txBody>
      </p:sp>
      <p:sp>
        <p:nvSpPr>
          <p:cNvPr id="122" name="Google Shape;122;p11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462100" y="1641150"/>
            <a:ext cx="8682000" cy="3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LLMs (like GPT-4, MedPaLM, BioGPT) are now used in: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Medical education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Patient triage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Risk assessment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Prompt-based models + RAG =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trust and accuracy</a:t>
            </a: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Infusing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clinical knowledge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prompts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LLM</a:t>
            </a:r>
            <a:r>
              <a:rPr lang="en-US" sz="2400">
                <a:solidFill>
                  <a:schemeClr val="dk1"/>
                </a:solidFill>
              </a:rPr>
              <a:t> p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erformance.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>
            <a:spLocks noGrp="1"/>
          </p:cNvSpPr>
          <p:nvPr>
            <p:ph type="body" idx="1"/>
          </p:nvPr>
        </p:nvSpPr>
        <p:spPr>
          <a:xfrm>
            <a:off x="980150" y="1471200"/>
            <a:ext cx="82296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Methodology Overview</a:t>
            </a:r>
            <a:endParaRPr sz="4100"/>
          </a:p>
        </p:txBody>
      </p:sp>
      <p:sp>
        <p:nvSpPr>
          <p:cNvPr id="130" name="Google Shape;130;p12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745675" y="1567650"/>
            <a:ext cx="7110000" cy="3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Data Collection (DiaHealth Dataset)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Data Preprocessing (cleaning, balancing)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Model Training (XGBoost, LightGBM, RF, etc.)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Prompt Engineering with Local LLMs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Chatbot Development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Web App using Django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body" idx="1"/>
          </p:nvPr>
        </p:nvSpPr>
        <p:spPr>
          <a:xfrm>
            <a:off x="980150" y="1471200"/>
            <a:ext cx="82296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Dataset Overview</a:t>
            </a:r>
            <a:endParaRPr sz="4100"/>
          </a:p>
        </p:txBody>
      </p:sp>
      <p:sp>
        <p:nvSpPr>
          <p:cNvPr id="138" name="Google Shape;138;p13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745675" y="1567649"/>
            <a:ext cx="8097300" cy="491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Dataset: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DiaHealth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(Bangladeshi dataset)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Records: </a:t>
            </a:r>
            <a:r>
              <a:rPr lang="en-US" sz="2400" i="0" u="none" strike="noStrike" cap="none" dirty="0">
                <a:solidFill>
                  <a:schemeClr val="dk1"/>
                </a:solidFill>
              </a:rPr>
              <a:t>5,437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patients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Target: Diabetic (Yes/No)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14 Key Features: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Age, Gender, Glucose, BMI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Blood Pressure (Systolic, Diastolic)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Family History (Diabetes, Hypertension)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Cardiovascular conditions, Stroke 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Labeled binary outcome: Diabetic or Not.</a:t>
            </a:r>
            <a:endParaRPr sz="2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body" idx="1"/>
          </p:nvPr>
        </p:nvSpPr>
        <p:spPr>
          <a:xfrm>
            <a:off x="980150" y="1471200"/>
            <a:ext cx="82296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Dataset Overview</a:t>
            </a:r>
            <a:endParaRPr sz="4100"/>
          </a:p>
        </p:txBody>
      </p:sp>
      <p:sp>
        <p:nvSpPr>
          <p:cNvPr id="146" name="Google Shape;146;p14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438300" y="2071750"/>
            <a:ext cx="8097300" cy="42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4" title="imbalanceddat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450" y="1879900"/>
            <a:ext cx="5174300" cy="38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5597750" y="3539275"/>
            <a:ext cx="3023700" cy="1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dataset has significant imbalance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will be addressed.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db8de3252_0_2"/>
          <p:cNvSpPr txBox="1">
            <a:spLocks noGrp="1"/>
          </p:cNvSpPr>
          <p:nvPr>
            <p:ph type="body" idx="1"/>
          </p:nvPr>
        </p:nvSpPr>
        <p:spPr>
          <a:xfrm>
            <a:off x="980150" y="1471200"/>
            <a:ext cx="82296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55" name="Google Shape;155;g36db8de3252_0_2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Data Preprocessing</a:t>
            </a:r>
            <a:endParaRPr sz="4100"/>
          </a:p>
        </p:txBody>
      </p:sp>
      <p:sp>
        <p:nvSpPr>
          <p:cNvPr id="156" name="Google Shape;156;g36db8de3252_0_2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6db8de3252_0_2"/>
          <p:cNvSpPr txBox="1"/>
          <p:nvPr/>
        </p:nvSpPr>
        <p:spPr>
          <a:xfrm>
            <a:off x="745675" y="1567650"/>
            <a:ext cx="6180000" cy="22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Invalid Value Removal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Glucose = 0? → Remove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Outlier Filtering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BMI &lt; 10 or &gt; 70 → Remove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FDBFD-EF23-9A47-690A-13E5CD6DF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50338"/>
            <a:ext cx="9144000" cy="16414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>
            <a:spLocks noGrp="1"/>
          </p:cNvSpPr>
          <p:nvPr>
            <p:ph type="body" idx="1"/>
          </p:nvPr>
        </p:nvSpPr>
        <p:spPr>
          <a:xfrm>
            <a:off x="980150" y="1471200"/>
            <a:ext cx="5006100" cy="28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Data Preprocessing</a:t>
            </a:r>
            <a:endParaRPr sz="4100"/>
          </a:p>
        </p:txBody>
      </p:sp>
      <p:sp>
        <p:nvSpPr>
          <p:cNvPr id="165" name="Google Shape;165;p15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451700" y="1144750"/>
            <a:ext cx="8083900" cy="1330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Balancing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Used SMOTENC (categorical + numeric)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 Final dataset was balanced 50/50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br>
              <a:rPr lang="en-US" b="0" dirty="0">
                <a:effectLst/>
              </a:rPr>
            </a:br>
            <a:endParaRPr sz="2200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05AF1E-D675-58FD-E00A-C73EBFA6D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15" y="2668294"/>
            <a:ext cx="7794770" cy="30449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Model Training Approach</a:t>
            </a:r>
            <a:endParaRPr sz="4100"/>
          </a:p>
        </p:txBody>
      </p:sp>
      <p:sp>
        <p:nvSpPr>
          <p:cNvPr id="173" name="Google Shape;173;p16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6" title="modeltraininapproch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8350" y="1344300"/>
            <a:ext cx="6458925" cy="451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2746402" y="5744775"/>
            <a:ext cx="4888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g:</a:t>
            </a:r>
            <a:r>
              <a:rPr lang="en-US"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Approaches for model training</a:t>
            </a:r>
            <a:endParaRPr sz="2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>
            <a:spLocks noGrp="1"/>
          </p:cNvSpPr>
          <p:nvPr>
            <p:ph type="title"/>
          </p:nvPr>
        </p:nvSpPr>
        <p:spPr>
          <a:xfrm>
            <a:off x="306000" y="2661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Model Training Approach</a:t>
            </a:r>
            <a:endParaRPr sz="4100"/>
          </a:p>
        </p:txBody>
      </p:sp>
      <p:sp>
        <p:nvSpPr>
          <p:cNvPr id="181" name="Google Shape;181;p17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967650" y="5831950"/>
            <a:ext cx="357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g: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Approaches for model training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5803675" y="1997425"/>
            <a:ext cx="2818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80/20 Train-Test split.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Models Used: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464675" y="2953425"/>
            <a:ext cx="2511600" cy="11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Random Forest(RF)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XGBoost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LightGBM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Neural Network (NN)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464675" y="2707550"/>
            <a:ext cx="239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1.Logistic Regression (LR)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74;p16" title="modeltraininapproch.jpg">
            <a:extLst>
              <a:ext uri="{FF2B5EF4-FFF2-40B4-BE49-F238E27FC236}">
                <a16:creationId xmlns:a16="http://schemas.microsoft.com/office/drawing/2014/main" id="{1C9154A6-7B3F-6423-5972-728ACAC9AE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28" y="1409162"/>
            <a:ext cx="5583936" cy="3930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555800" y="7304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Why Multiple Algorithms?</a:t>
            </a:r>
            <a:endParaRPr sz="4100"/>
          </a:p>
        </p:txBody>
      </p:sp>
      <p:sp>
        <p:nvSpPr>
          <p:cNvPr id="192" name="Google Shape;192;p18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" name="Google Shape;193;p18"/>
          <p:cNvGraphicFramePr/>
          <p:nvPr/>
        </p:nvGraphicFramePr>
        <p:xfrm>
          <a:off x="1051100" y="1873450"/>
          <a:ext cx="7239000" cy="3261180"/>
        </p:xfrm>
        <a:graphic>
          <a:graphicData uri="http://schemas.openxmlformats.org/drawingml/2006/table">
            <a:tbl>
              <a:tblPr>
                <a:noFill/>
                <a:tableStyleId>{508E0749-00F0-4C77-B472-6A74AFAE4649}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                       </a:t>
                      </a:r>
                      <a:r>
                        <a:rPr lang="en-US" sz="2200" b="1"/>
                        <a:t>   Model</a:t>
                      </a:r>
                      <a:endParaRPr sz="2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                 </a:t>
                      </a:r>
                      <a:r>
                        <a:rPr lang="en-US" sz="2200" b="1"/>
                        <a:t>  Strength</a:t>
                      </a:r>
                      <a:endParaRPr sz="2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Logistic Regression 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Simple,Interpretable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Random Forest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Good for feature ranking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XGBoost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High Accuracy,handles    imbalance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LightGBM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Fast,efficient with large data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Neural Network</a:t>
                      </a:r>
                      <a:endParaRPr sz="2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Captures non-linear patterns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>
            <a:spLocks noGrp="1"/>
          </p:cNvSpPr>
          <p:nvPr>
            <p:ph type="title"/>
          </p:nvPr>
        </p:nvSpPr>
        <p:spPr>
          <a:xfrm>
            <a:off x="457200" y="4952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Local LLMs for Prompt Engineering</a:t>
            </a:r>
            <a:endParaRPr sz="4100"/>
          </a:p>
        </p:txBody>
      </p:sp>
      <p:sp>
        <p:nvSpPr>
          <p:cNvPr id="199" name="Google Shape;199;p19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19"/>
          <p:cNvGraphicFramePr/>
          <p:nvPr/>
        </p:nvGraphicFramePr>
        <p:xfrm>
          <a:off x="332850" y="2286000"/>
          <a:ext cx="8353950" cy="3230700"/>
        </p:xfrm>
        <a:graphic>
          <a:graphicData uri="http://schemas.openxmlformats.org/drawingml/2006/table">
            <a:tbl>
              <a:tblPr>
                <a:noFill/>
                <a:tableStyleId>{508E0749-00F0-4C77-B472-6A74AFAE4649}</a:tableStyleId>
              </a:tblPr>
              <a:tblGrid>
                <a:gridCol w="156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Model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Instruction Following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Few-shot Support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Hallucination Control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Context Window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VRAM Needed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LLaMA</a:t>
                      </a:r>
                      <a:r>
                        <a:rPr lang="en-US" b="1" dirty="0"/>
                        <a:t> 3(8GB)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Excellent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Strong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Good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8K(up to 128K with tweaks)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12-16 GB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DeepSeek-V2(7B)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Good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Strong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Fair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128K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8-12 GB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Mistral-7B instruct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Moderate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Moderate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Fair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32K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8-10 GB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MedAlpaca-7B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Good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Moderate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Low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4K-8K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8-12 GB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/>
                        <a:t>Qwen</a:t>
                      </a:r>
                      <a:r>
                        <a:rPr lang="en-US" b="1" dirty="0"/>
                        <a:t> 2(7B)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Excellent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Strong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Good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128K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10-14 GB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457200" y="4952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Local LLMs for Prompt Engineering</a:t>
            </a:r>
            <a:endParaRPr sz="4100"/>
          </a:p>
        </p:txBody>
      </p:sp>
      <p:sp>
        <p:nvSpPr>
          <p:cNvPr id="206" name="Google Shape;206;p20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46575" y="1932400"/>
            <a:ext cx="8568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Findings: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LLaMA-3 and DeepSeek-R1 showed the best overall results for prompt engineering in our experiments. LLaMA-3 follows structured instructions accurately and    reduces hallucinations, making it well-suited for healthcare-oriented dialogues.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57200" y="5416750"/>
            <a:ext cx="7518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Tested on arc750 GPU </a:t>
            </a:r>
            <a:r>
              <a:rPr lang="en-US" sz="2400">
                <a:solidFill>
                  <a:schemeClr val="dk1"/>
                </a:solidFill>
              </a:rPr>
              <a:t>with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8GB VRAM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>
            <a:spLocks noGrp="1"/>
          </p:cNvSpPr>
          <p:nvPr>
            <p:ph type="title"/>
          </p:nvPr>
        </p:nvSpPr>
        <p:spPr>
          <a:xfrm>
            <a:off x="457200" y="4952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Prompt Engineering Pipeline</a:t>
            </a:r>
            <a:endParaRPr sz="4100"/>
          </a:p>
        </p:txBody>
      </p:sp>
      <p:sp>
        <p:nvSpPr>
          <p:cNvPr id="214" name="Google Shape;214;p21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46575" y="1932400"/>
            <a:ext cx="4883700" cy="4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85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❑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Medical colleges slides → Preprocessed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1" indent="-2222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None/>
            </a:pP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1" indent="-368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❑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Extracted medical symptoms patterns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222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None/>
            </a:pP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1" indent="-368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❑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Generated zero-shot &amp; few-shot prompts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222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None/>
            </a:pP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0850" marR="0" lvl="1" indent="-3683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❑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LLM interaction(no fine tuning)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1" title="medical_chatbo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1875" y="1811600"/>
            <a:ext cx="4061548" cy="43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>
            <a:spLocks noGrp="1"/>
          </p:cNvSpPr>
          <p:nvPr>
            <p:ph type="title"/>
          </p:nvPr>
        </p:nvSpPr>
        <p:spPr>
          <a:xfrm>
            <a:off x="457200" y="4952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Chatbot Development Process</a:t>
            </a:r>
            <a:endParaRPr sz="4100"/>
          </a:p>
        </p:txBody>
      </p:sp>
      <p:sp>
        <p:nvSpPr>
          <p:cNvPr id="222" name="Google Shape;222;p22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89500" y="1921900"/>
            <a:ext cx="8097300" cy="205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LM Studio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Real-time responses through prompt chaining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retrieval augmentation or model training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Built solely via structured prompting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475" y="4159350"/>
            <a:ext cx="8573952" cy="151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>
            <a:spLocks noGrp="1"/>
          </p:cNvSpPr>
          <p:nvPr>
            <p:ph type="title"/>
          </p:nvPr>
        </p:nvSpPr>
        <p:spPr>
          <a:xfrm>
            <a:off x="149750" y="320100"/>
            <a:ext cx="4177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Web Application </a:t>
            </a:r>
            <a:endParaRPr sz="4100">
              <a:solidFill>
                <a:srgbClr val="37609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Architecture</a:t>
            </a:r>
            <a:endParaRPr sz="4100"/>
          </a:p>
        </p:txBody>
      </p:sp>
      <p:sp>
        <p:nvSpPr>
          <p:cNvPr id="230" name="Google Shape;230;p23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589500" y="1921900"/>
            <a:ext cx="52503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with </a:t>
            </a:r>
            <a:r>
              <a:rPr lang="en-US"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Django + REST Framework</a:t>
            </a:r>
            <a:endParaRPr sz="2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Frontend: Input form + Chat interface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API Gateway: Routes chat/model requests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AI Agent: Model invocation and logic.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4050" y="320100"/>
            <a:ext cx="3505199" cy="60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>
            <a:spLocks noGrp="1"/>
          </p:cNvSpPr>
          <p:nvPr>
            <p:ph type="title"/>
          </p:nvPr>
        </p:nvSpPr>
        <p:spPr>
          <a:xfrm>
            <a:off x="149750" y="320100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Comparative Model Results</a:t>
            </a:r>
            <a:endParaRPr sz="4100"/>
          </a:p>
        </p:txBody>
      </p:sp>
      <p:sp>
        <p:nvSpPr>
          <p:cNvPr id="238" name="Google Shape;238;p24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24"/>
          <p:cNvGraphicFramePr/>
          <p:nvPr/>
        </p:nvGraphicFramePr>
        <p:xfrm>
          <a:off x="952500" y="1340050"/>
          <a:ext cx="7239000" cy="1584840"/>
        </p:xfrm>
        <a:graphic>
          <a:graphicData uri="http://schemas.openxmlformats.org/drawingml/2006/table">
            <a:tbl>
              <a:tblPr>
                <a:noFill/>
                <a:tableStyleId>{97E8344D-1FFE-486B-8FEC-3A74D5AB1AD5}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Metric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XGBoost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LightGBM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</a:t>
                      </a:r>
                      <a:r>
                        <a:rPr lang="en-US" sz="1400" b="1" u="none" strike="noStrike" cap="none"/>
                        <a:t>  RF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</a:t>
                      </a:r>
                      <a:r>
                        <a:rPr lang="en-US" sz="1400" b="1" u="none" strike="noStrike" cap="none"/>
                        <a:t>LR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    </a:t>
                      </a:r>
                      <a:r>
                        <a:rPr lang="en-US" sz="1400" b="1" u="none" strike="noStrike" cap="none"/>
                        <a:t>NN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Accuracy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95.97%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95.24%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94.60%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82.43%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91.70%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ROC AUC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0.9909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0.9889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0.9882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0.9056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0.9693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F1-Score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0.9599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0.9521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0.9464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0.8188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0.9196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0" name="Google Shape;24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150" y="3269775"/>
            <a:ext cx="6124850" cy="333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Comparative Model Results</a:t>
            </a:r>
            <a:endParaRPr sz="4100"/>
          </a:p>
        </p:txBody>
      </p:sp>
      <p:sp>
        <p:nvSpPr>
          <p:cNvPr id="246" name="Google Shape;246;p25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700" y="1198025"/>
            <a:ext cx="8036849" cy="479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6540900" y="3163588"/>
            <a:ext cx="23745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performed the best overall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Accuracy:95.97%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Addressing Class Imbalance</a:t>
            </a:r>
            <a:endParaRPr sz="4100"/>
          </a:p>
        </p:txBody>
      </p:sp>
      <p:sp>
        <p:nvSpPr>
          <p:cNvPr id="254" name="Google Shape;254;p26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726750" y="1707000"/>
            <a:ext cx="7690500" cy="25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Original Ratio: 1 diabetic : 9 non-diabetic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Technique: SMOTENC (for mixed categorical-numerical)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Impact: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Diabetic samples boosted from 500 → 4,500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Validation accuracy improvement: 13.9%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Predictive Feature Analysis (SHAP)</a:t>
            </a:r>
            <a:endParaRPr sz="4100"/>
          </a:p>
        </p:txBody>
      </p:sp>
      <p:sp>
        <p:nvSpPr>
          <p:cNvPr id="261" name="Google Shape;261;p27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367566" y="1487302"/>
            <a:ext cx="5577300" cy="42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 Symbols"/>
              <a:buChar char="❖"/>
            </a:pPr>
            <a:r>
              <a:rPr lang="en-US" sz="2300" b="1" i="0" u="none" strike="noStrike" cap="none" dirty="0">
                <a:solidFill>
                  <a:schemeClr val="dk1"/>
                </a:solidFill>
              </a:rPr>
              <a:t>Tool: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 SHAP (</a:t>
            </a:r>
            <a:r>
              <a:rPr lang="en-US" sz="2300" i="0" u="none" strike="noStrike" cap="none" dirty="0" err="1">
                <a:solidFill>
                  <a:schemeClr val="dk1"/>
                </a:solidFill>
              </a:rPr>
              <a:t>SHapley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 Additive </a:t>
            </a:r>
            <a:r>
              <a:rPr lang="en-US" sz="2300" i="0" u="none" strike="noStrike" cap="none" dirty="0" err="1">
                <a:solidFill>
                  <a:schemeClr val="dk1"/>
                </a:solidFill>
              </a:rPr>
              <a:t>exPlanations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)</a:t>
            </a:r>
            <a:endParaRPr sz="2300" i="0" u="none" strike="noStrike" cap="none" dirty="0">
              <a:solidFill>
                <a:schemeClr val="dk1"/>
              </a:solidFill>
            </a:endParaRPr>
          </a:p>
          <a:p>
            <a:pPr marL="342900" marR="0" lvl="0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 Symbols"/>
              <a:buChar char="❖"/>
            </a:pPr>
            <a:r>
              <a:rPr lang="en-US" sz="2300" b="1" i="0" u="none" strike="noStrike" cap="none" dirty="0">
                <a:solidFill>
                  <a:schemeClr val="dk1"/>
                </a:solidFill>
              </a:rPr>
              <a:t>Purpose: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 Identify </a:t>
            </a:r>
            <a:r>
              <a:rPr lang="en-US" sz="2300" b="1" i="0" u="none" strike="noStrike" cap="none" dirty="0">
                <a:solidFill>
                  <a:schemeClr val="dk1"/>
                </a:solidFill>
              </a:rPr>
              <a:t>feature impact 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on prediction</a:t>
            </a:r>
            <a:endParaRPr sz="2300" i="0" u="none" strike="noStrike" cap="none" dirty="0">
              <a:solidFill>
                <a:schemeClr val="dk1"/>
              </a:solidFill>
            </a:endParaRPr>
          </a:p>
          <a:p>
            <a:pPr marL="342900" marR="0" lvl="0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❖"/>
            </a:pPr>
            <a:r>
              <a:rPr lang="en-US" sz="2300" b="1" i="0" u="none" strike="noStrike" cap="none" dirty="0">
                <a:solidFill>
                  <a:schemeClr val="dk1"/>
                </a:solidFill>
              </a:rPr>
              <a:t>Key Predictors:</a:t>
            </a:r>
            <a:endParaRPr sz="2300" b="1" i="0" u="none" strike="noStrike" cap="none" dirty="0">
              <a:solidFill>
                <a:schemeClr val="dk1"/>
              </a:solidFill>
            </a:endParaRPr>
          </a:p>
          <a:p>
            <a:pPr marL="800100" marR="0" lvl="0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Char char="o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Glucose Level</a:t>
            </a:r>
            <a:endParaRPr sz="2300" dirty="0"/>
          </a:p>
          <a:p>
            <a:pPr marL="800100" marR="0" lvl="0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Char char="o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Age</a:t>
            </a:r>
            <a:endParaRPr sz="2300" dirty="0"/>
          </a:p>
          <a:p>
            <a:pPr marL="800100" marR="0" lvl="0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Char char="o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B</a:t>
            </a:r>
            <a:r>
              <a:rPr lang="en-US" sz="2300" dirty="0">
                <a:solidFill>
                  <a:schemeClr val="dk1"/>
                </a:solidFill>
              </a:rPr>
              <a:t>P</a:t>
            </a:r>
            <a:r>
              <a:rPr lang="en-US" sz="2300" i="0" u="none" strike="noStrike" cap="none" dirty="0">
                <a:solidFill>
                  <a:schemeClr val="dk1"/>
                </a:solidFill>
              </a:rPr>
              <a:t> (Systolic, Diastolic)</a:t>
            </a:r>
            <a:endParaRPr sz="2300" dirty="0"/>
          </a:p>
          <a:p>
            <a:pPr marL="800100" marR="0" lvl="0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Char char="o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BMI</a:t>
            </a:r>
            <a:endParaRPr sz="2300" dirty="0"/>
          </a:p>
          <a:p>
            <a:pPr marL="800100" marR="0" lvl="0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300"/>
              <a:buChar char="o"/>
            </a:pPr>
            <a:r>
              <a:rPr lang="en-US" sz="2300" i="0" u="none" strike="noStrike" cap="none" dirty="0">
                <a:solidFill>
                  <a:schemeClr val="dk1"/>
                </a:solidFill>
              </a:rPr>
              <a:t>Hypertension</a:t>
            </a:r>
            <a:endParaRPr sz="2300" dirty="0"/>
          </a:p>
          <a:p>
            <a:pPr marL="45720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2300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263" name="Google Shape;26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0925" y="2865400"/>
            <a:ext cx="4973075" cy="31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Predictive Feature Analysis (SHAP)</a:t>
            </a:r>
            <a:endParaRPr sz="4100"/>
          </a:p>
        </p:txBody>
      </p:sp>
      <p:sp>
        <p:nvSpPr>
          <p:cNvPr id="269" name="Google Shape;269;p28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408850"/>
            <a:ext cx="5081625" cy="544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2475" y="3325725"/>
            <a:ext cx="4681800" cy="249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Predictive Feature Analysis (SHAP)</a:t>
            </a:r>
            <a:endParaRPr sz="4100"/>
          </a:p>
        </p:txBody>
      </p:sp>
      <p:sp>
        <p:nvSpPr>
          <p:cNvPr id="277" name="Google Shape;277;p29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5700" y="1001175"/>
            <a:ext cx="4606250" cy="525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Predictive Feature Analysis (SHAP)</a:t>
            </a:r>
            <a:endParaRPr sz="4100"/>
          </a:p>
        </p:txBody>
      </p:sp>
      <p:sp>
        <p:nvSpPr>
          <p:cNvPr id="284" name="Google Shape;284;p30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375" y="1138000"/>
            <a:ext cx="4462224" cy="513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 txBox="1"/>
          <p:nvPr/>
        </p:nvSpPr>
        <p:spPr>
          <a:xfrm>
            <a:off x="4806600" y="1063125"/>
            <a:ext cx="3938100" cy="544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 summary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plot reveals distinct contribution patterns: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❑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Glucose Level: 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values (</a:t>
            </a:r>
            <a:r>
              <a:rPr lang="en-US" sz="17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show strong positive correlation with outcome, while low values (</a:t>
            </a:r>
            <a:r>
              <a:rPr lang="en-US" sz="1700" b="0" i="0" u="none" strike="noStrike" cap="none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blue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correlate negatively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❑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Age: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Advanced age (</a:t>
            </a:r>
            <a:r>
              <a:rPr lang="en-US" sz="17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significantly increases prediction probability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❑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 Groups: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’Young’ category lowers predictions, while ’Senior’ increases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❑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❑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Weight: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Higher values generally elevate predicted outcomes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❑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Hypertensive Status: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Hypertension presence (1) increases predictions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❑"/>
            </a:pP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Blood Pressure:</a:t>
            </a:r>
            <a:r>
              <a:rPr lang="en-US"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Both diastolic and systolic elevations correlate with increased outcomes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Conversational Agent Behavior</a:t>
            </a:r>
            <a:endParaRPr sz="4100"/>
          </a:p>
        </p:txBody>
      </p:sp>
      <p:sp>
        <p:nvSpPr>
          <p:cNvPr id="292" name="Google Shape;292;p31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434250" y="1242825"/>
            <a:ext cx="4481525" cy="430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001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i="0" u="none" strike="noStrike" cap="none" dirty="0">
                <a:solidFill>
                  <a:schemeClr val="dk1"/>
                </a:solidFill>
              </a:rPr>
              <a:t>Avg. Questions per session:</a:t>
            </a:r>
            <a:r>
              <a:rPr lang="en-US" sz="2000" b="1" i="0" u="none" strike="noStrike" cap="none" dirty="0">
                <a:solidFill>
                  <a:schemeClr val="dk1"/>
                </a:solidFill>
              </a:rPr>
              <a:t> 6.2</a:t>
            </a:r>
            <a:endParaRPr sz="2000" b="1" i="0" u="none" strike="noStrike" cap="none" dirty="0">
              <a:solidFill>
                <a:schemeClr val="dk1"/>
              </a:solidFill>
            </a:endParaRPr>
          </a:p>
          <a:p>
            <a:pPr marL="8001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i="0" u="none" strike="noStrike" cap="none" dirty="0">
                <a:solidFill>
                  <a:schemeClr val="dk1"/>
                </a:solidFill>
              </a:rPr>
              <a:t>Decision logic:</a:t>
            </a:r>
            <a:endParaRPr sz="2000" i="0" u="none" strike="noStrike" cap="none" dirty="0">
              <a:solidFill>
                <a:schemeClr val="dk1"/>
              </a:solidFill>
            </a:endParaRPr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 i="0" u="none" strike="noStrike" cap="none" dirty="0">
                <a:solidFill>
                  <a:schemeClr val="dk1"/>
                </a:solidFill>
              </a:rPr>
              <a:t>If </a:t>
            </a:r>
            <a:r>
              <a:rPr lang="en-US" sz="2000" dirty="0">
                <a:solidFill>
                  <a:schemeClr val="dk1"/>
                </a:solidFill>
              </a:rPr>
              <a:t>the LLM predicts that the user may have diabetes</a:t>
            </a:r>
            <a:r>
              <a:rPr lang="en-US" sz="2000" i="0" u="none" strike="noStrike" cap="none" dirty="0">
                <a:solidFill>
                  <a:schemeClr val="dk1"/>
                </a:solidFill>
              </a:rPr>
              <a:t>→ Redirect to web form</a:t>
            </a:r>
            <a:br>
              <a:rPr lang="en-US" sz="2000" i="0" u="none" strike="noStrike" cap="none" dirty="0">
                <a:solidFill>
                  <a:schemeClr val="dk1"/>
                </a:solidFill>
              </a:rPr>
            </a:br>
            <a:endParaRPr sz="2000" i="0" u="none" strike="noStrike" cap="none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strike="noStrike" cap="none" dirty="0">
                <a:solidFill>
                  <a:schemeClr val="dk1"/>
                </a:solidFill>
              </a:rPr>
              <a:t>Built entirely with structured prompt logic</a:t>
            </a:r>
            <a:br>
              <a:rPr lang="en-US" sz="2000" i="0" u="none" strike="noStrike" cap="none" dirty="0">
                <a:solidFill>
                  <a:schemeClr val="dk1"/>
                </a:solidFill>
              </a:rPr>
            </a:br>
            <a:endParaRPr sz="2000" i="0" u="none" strike="noStrike" cap="none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5775" y="1134775"/>
            <a:ext cx="3922189" cy="486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Prediction Interface Overview</a:t>
            </a:r>
            <a:endParaRPr sz="4100"/>
          </a:p>
        </p:txBody>
      </p:sp>
      <p:sp>
        <p:nvSpPr>
          <p:cNvPr id="300" name="Google Shape;300;p32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89850" y="1602200"/>
            <a:ext cx="2133600" cy="289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inputs data (age, glucose, BMI, etc.)</a:t>
            </a:r>
            <a:b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Prediction generated by best-performing model</a:t>
            </a:r>
            <a:b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Result shown with </a:t>
            </a:r>
            <a:r>
              <a:rPr lang="en-US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 percentage</a:t>
            </a:r>
            <a:br>
              <a:rPr lang="en-US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1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1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2866" y="1235982"/>
            <a:ext cx="3960725" cy="486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1" y="3051043"/>
            <a:ext cx="3300983" cy="994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Limitations &amp; Future Work</a:t>
            </a:r>
            <a:endParaRPr sz="4100"/>
          </a:p>
        </p:txBody>
      </p:sp>
      <p:sp>
        <p:nvSpPr>
          <p:cNvPr id="309" name="Google Shape;309;p33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1305850" y="1722000"/>
            <a:ext cx="6348900" cy="407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Limitations: small dataset, no real-time integration, English-only chatbot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Future: Bangla support, wearable integration, clinical validation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VRAM for LLM trained</a:t>
            </a:r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direct feedback from expert doctors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>
            <a:spLocks noGrp="1"/>
          </p:cNvSpPr>
          <p:nvPr>
            <p:ph type="title"/>
          </p:nvPr>
        </p:nvSpPr>
        <p:spPr>
          <a:xfrm>
            <a:off x="194650" y="170375"/>
            <a:ext cx="857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100">
                <a:solidFill>
                  <a:srgbClr val="376092"/>
                </a:solidFill>
              </a:rPr>
              <a:t>Conclusion</a:t>
            </a:r>
            <a:endParaRPr sz="4100"/>
          </a:p>
        </p:txBody>
      </p:sp>
      <p:sp>
        <p:nvSpPr>
          <p:cNvPr id="316" name="Google Shape;316;p34"/>
          <p:cNvSpPr txBox="1"/>
          <p:nvPr/>
        </p:nvSpPr>
        <p:spPr>
          <a:xfrm>
            <a:off x="6781800" y="64801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4"/>
          <p:cNvSpPr txBox="1"/>
          <p:nvPr/>
        </p:nvSpPr>
        <p:spPr>
          <a:xfrm>
            <a:off x="1216000" y="1313375"/>
            <a:ext cx="7203900" cy="499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delivers a scalable, explainable diabetes risk prediction system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Combines ML + LLMs + local healthcare knowledge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marR="0" lvl="0" indent="-190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way of diagnosis where there is no doctor available right away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457200" y="2514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400"/>
              <a:buFont typeface="Calibri"/>
              <a:buNone/>
            </a:pPr>
            <a:r>
              <a:rPr lang="en-US" sz="4400" b="1" i="0" u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23" name="Google Shape;323;p35"/>
          <p:cNvSpPr txBox="1"/>
          <p:nvPr/>
        </p:nvSpPr>
        <p:spPr>
          <a:xfrm>
            <a:off x="6781800" y="64801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1516</Words>
  <Application>Microsoft Office PowerPoint</Application>
  <PresentationFormat>On-screen Show (4:3)</PresentationFormat>
  <Paragraphs>470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Noto Sans Symbols</vt:lpstr>
      <vt:lpstr>1_Office Theme</vt:lpstr>
      <vt:lpstr>2_Office Theme</vt:lpstr>
      <vt:lpstr>Conversational AI and ML for Diabetes Risk Assessment </vt:lpstr>
      <vt:lpstr>Slide Outline</vt:lpstr>
      <vt:lpstr>Introduction</vt:lpstr>
      <vt:lpstr>Problem Statement</vt:lpstr>
      <vt:lpstr>Objectives of the Project</vt:lpstr>
      <vt:lpstr>System Overview</vt:lpstr>
      <vt:lpstr>System Overview</vt:lpstr>
      <vt:lpstr>Diabetes in Bangladesh</vt:lpstr>
      <vt:lpstr>Overview of Existing Solutions</vt:lpstr>
      <vt:lpstr>Related Work</vt:lpstr>
      <vt:lpstr>Rise of Conversational AI in Healthcare</vt:lpstr>
      <vt:lpstr>Methodology Overview</vt:lpstr>
      <vt:lpstr>Dataset Overview</vt:lpstr>
      <vt:lpstr>Dataset Overview</vt:lpstr>
      <vt:lpstr>Data Preprocessing</vt:lpstr>
      <vt:lpstr>Data Preprocessing</vt:lpstr>
      <vt:lpstr>Model Training Approach</vt:lpstr>
      <vt:lpstr>Model Training Approach</vt:lpstr>
      <vt:lpstr>Why Multiple Algorithms?</vt:lpstr>
      <vt:lpstr>Local LLMs for Prompt Engineering</vt:lpstr>
      <vt:lpstr>Local LLMs for Prompt Engineering</vt:lpstr>
      <vt:lpstr>Prompt Engineering Pipeline</vt:lpstr>
      <vt:lpstr>Chatbot Development Process</vt:lpstr>
      <vt:lpstr>Web Application  Architecture</vt:lpstr>
      <vt:lpstr>Comparative Model Results</vt:lpstr>
      <vt:lpstr>Comparative Model Results</vt:lpstr>
      <vt:lpstr>Addressing Class Imbalance</vt:lpstr>
      <vt:lpstr>Predictive Feature Analysis (SHAP)</vt:lpstr>
      <vt:lpstr>Predictive Feature Analysis (SHAP)</vt:lpstr>
      <vt:lpstr>Predictive Feature Analysis (SHAP)</vt:lpstr>
      <vt:lpstr>Predictive Feature Analysis (SHAP)</vt:lpstr>
      <vt:lpstr>Conversational Agent Behavior</vt:lpstr>
      <vt:lpstr>Prediction Interface Overview</vt:lpstr>
      <vt:lpstr>Limitations &amp; Future Work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Conversational AI and ML for Diabetes Risk Assessment</dc:title>
  <dc:creator>User</dc:creator>
  <cp:lastModifiedBy>User</cp:lastModifiedBy>
  <cp:revision>2</cp:revision>
  <dcterms:modified xsi:type="dcterms:W3CDTF">2025-07-12T09:21:50Z</dcterms:modified>
</cp:coreProperties>
</file>